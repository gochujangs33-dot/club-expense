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6858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85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⚡ 3M SMART SETTLEMENT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3M 사내 동아리·클럽</a:t>
            </a:r>
            <a:endParaRPr lang="en-US" sz="2800"/>
          </a:p>
          <a:p>
            <a:pPr marL="0" indent="0">
              <a:lnSpc>
                <a:spcPts val="4000"/>
              </a:lnSpc>
              <a:buNone/>
            </a:pPr>
            <a:r>
              <a:rPr lang="en-US" sz="2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비용 정산 시스템 사용자 설명회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실제 사이트 화면으로 누구나 3분 만에 마스터하는 원클릭 스마트 정산 가이드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🔑 1초 간편 로그인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078992" y="35295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사번 PIN 번호로 비밀번호 없이 즉시 접속</a:t>
            </a:r>
            <a:endParaRPr lang="en-US" sz="920"/>
          </a:p>
        </p:txBody>
      </p:sp>
      <p:sp>
        <p:nvSpPr>
          <p:cNvPr id="11" name="Shape 9"/>
          <p:cNvSpPr/>
          <p:nvPr/>
        </p:nvSpPr>
        <p:spPr>
          <a:xfrm>
            <a:off x="3429000" y="3063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⚡ 4구간 자동 분할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593592" y="35295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규정에 따른 회사 지원금/자부담 100% 자동 검증</a:t>
            </a:r>
            <a:endParaRPr lang="en-US" sz="920"/>
          </a:p>
        </p:txBody>
      </p:sp>
      <p:sp>
        <p:nvSpPr>
          <p:cNvPr id="14" name="Shape 12"/>
          <p:cNvSpPr/>
          <p:nvPr/>
        </p:nvSpPr>
        <p:spPr>
          <a:xfrm>
            <a:off x="5943600" y="30632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📊 공식 엑셀 원클릭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108192" y="35295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회사 공식 품의서 서식 자동 매핑 및 즉시 다운로드</a:t>
            </a:r>
            <a:endParaRPr lang="en-US" sz="920"/>
          </a:p>
        </p:txBody>
      </p:sp>
      <p:sp>
        <p:nvSpPr>
          <p:cNvPr id="17" name="Text 15"/>
          <p:cNvSpPr/>
          <p:nvPr/>
        </p:nvSpPr>
        <p:spPr>
          <a:xfrm>
            <a:off x="91440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발표일: 2026. 10. 24 (금)  |  발표자: 김종필 (시스템 개발자)  |  시스템 버전: v1.6.310 (최신 배포 버전)</a:t>
            </a:r>
            <a:endParaRPr lang="en-US" sz="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3M 사내 클럽 비용 정산 시스템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정산 전체 프로세스: 4단계 완성 로드맵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복잡했던 서류 작성과 수기 계산 없이, 단 4단계 클릭만으로 공식 정산 품의가 완료됩니다.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1938528" cy="2057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48132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481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STEP 1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94944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간편 접속 &amp; 로그인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94944" y="22677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사번 6자리 PIN 입력</a:t>
            </a:r>
            <a:endParaRPr lang="en-US" sz="950"/>
          </a:p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(신규 회원은 1초 등록)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694944" y="303580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035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✓ 로그인 모달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606040" y="1325880"/>
            <a:ext cx="1938528" cy="2057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2344" y="148132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1481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STEP 2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2752344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참석자 명부 담기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2752344" y="22677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전사원 명부(1,317명) 검색</a:t>
            </a:r>
            <a:endParaRPr lang="en-US" sz="950"/>
          </a:p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[추가] 버튼 1클릭 반영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2752344" y="303580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2344" y="3035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✓ 명부 연동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1938528" cy="2057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9744" y="148132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481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STEP 3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4809744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비용 입력 &amp; 자동계산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809744" y="22677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영수증 금액 및 카드 구분</a:t>
            </a:r>
            <a:endParaRPr lang="en-US" sz="950"/>
          </a:p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4구간 자부담 실시간 산출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809744" y="303580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035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✓ 실시간 검증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6720840" y="1325880"/>
            <a:ext cx="1938528" cy="20574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7144" y="1481328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14813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STEP 4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6867144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1클릭 마감 &amp; 엑셀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867144" y="22677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[정산 완료] 버튼 클릭 시</a:t>
            </a:r>
            <a:endParaRPr lang="en-US" sz="950"/>
          </a:p>
          <a:p>
            <a:pPr marL="0" indent="0">
              <a:lnSpc>
                <a:spcPts val="1450"/>
              </a:lnSpc>
              <a:buNone/>
            </a:pPr>
            <a:r>
              <a:rPr lang="en-US" sz="9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공식 엑셀 품의서 즉시 다운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6867144" y="303580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67144" y="3035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✓ 품의 완료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548640" y="356616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675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💡 시스템 도입 전후 핵심 변화 비교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777240" y="39502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0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과거 방식: 엑셀 양식 수동 다운로드 ➔ 구간표 보고 계산기 두드리기 ➔ 동명이인/사번 수기 확인 ➔ 30분 이상 소요 및 계산 오류 빈발</a:t>
            </a:r>
            <a:endParaRPr lang="en-US" sz="900"/>
          </a:p>
          <a:p>
            <a:pPr marL="0" indent="0">
              <a:lnSpc>
                <a:spcPts val="1500"/>
              </a:lnSpc>
              <a:buNone/>
            </a:pPr>
            <a:r>
              <a:rPr lang="en-US" sz="90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신규 시스템: 웹 접속 ➔ 참석자 클릭 ➔ 금액 입력 ➔ 4구간 자부담 &amp; 공식 엑셀이 3분 안에 100% 무결점으로 자동 완성!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3M 사내 클럽 비용 정산 시스템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Step 1. 1초 초간편 PIN 로그인 &amp; 회원 등록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아이디/비밀번호 분실 걱정 없이, 사번 뒷자리 6개 숫자로 모바일·PC 어디서나 즉시 접속합니다.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1600200" cy="333756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86000" y="1280160"/>
            <a:ext cx="1920240" cy="28346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286000" y="4206240"/>
            <a:ext cx="1920240" cy="4114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43400" y="1280160"/>
            <a:ext cx="42519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72000" y="14173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📱 조작 가이드 및 핵심 기능</a:t>
            </a:r>
            <a:endParaRPr lang="en-US" sz="1250"/>
          </a:p>
        </p:txBody>
      </p:sp>
      <p:sp>
        <p:nvSpPr>
          <p:cNvPr id="16" name="Text 11"/>
          <p:cNvSpPr/>
          <p:nvPr/>
        </p:nvSpPr>
        <p:spPr>
          <a:xfrm>
            <a:off x="4572000" y="1773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6자리 사번 PIN 원터치 로그인</a:t>
            </a:r>
            <a:endParaRPr lang="en-US" sz="1050"/>
          </a:p>
        </p:txBody>
      </p:sp>
      <p:sp>
        <p:nvSpPr>
          <p:cNvPr id="17" name="Text 12"/>
          <p:cNvSpPr/>
          <p:nvPr/>
        </p:nvSpPr>
        <p:spPr>
          <a:xfrm>
            <a:off x="4800600" y="19933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화면 터치패드 또는 키보드로 본인의 6자리 PIN을 누르면 별도 엔터 없이 즉시 메인 화면으로 이동합니다.</a:t>
            </a:r>
            <a:endParaRPr lang="en-US" sz="900"/>
          </a:p>
        </p:txBody>
      </p:sp>
      <p:sp>
        <p:nvSpPr>
          <p:cNvPr id="18" name="Text 13"/>
          <p:cNvSpPr/>
          <p:nvPr/>
        </p:nvSpPr>
        <p:spPr>
          <a:xfrm>
            <a:off x="4572000" y="24505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신규 회원 1회 등록 (30초)</a:t>
            </a:r>
            <a:endParaRPr lang="en-US" sz="1050"/>
          </a:p>
        </p:txBody>
      </p:sp>
      <p:sp>
        <p:nvSpPr>
          <p:cNvPr id="19" name="Text 14"/>
          <p:cNvSpPr/>
          <p:nvPr/>
        </p:nvSpPr>
        <p:spPr>
          <a:xfrm>
            <a:off x="4800600" y="26700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처음 사용자는 하단 '회원 등록하기'를 눌러 이름과 6자리 PIN(사번 CG001234인 경우 '001234')만 등록하면 완료됩니다.</a:t>
            </a:r>
            <a:endParaRPr lang="en-US" sz="900"/>
          </a:p>
        </p:txBody>
      </p:sp>
      <p:sp>
        <p:nvSpPr>
          <p:cNvPr id="20" name="Text 15"/>
          <p:cNvSpPr/>
          <p:nvPr/>
        </p:nvSpPr>
        <p:spPr>
          <a:xfrm>
            <a:off x="4572000" y="31272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다크 / 라이트 모드 상시 지원</a:t>
            </a:r>
            <a:endParaRPr lang="en-US" sz="1050"/>
          </a:p>
        </p:txBody>
      </p:sp>
      <p:sp>
        <p:nvSpPr>
          <p:cNvPr id="21" name="Text 16"/>
          <p:cNvSpPr/>
          <p:nvPr/>
        </p:nvSpPr>
        <p:spPr>
          <a:xfrm>
            <a:off x="4800600" y="33467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상단 우측 [Dark / Light] 토글 스위치로 야간이나 주간 어디서든 눈이 편안한 테마로 즉시 전환됩니다.</a:t>
            </a:r>
            <a:endParaRPr lang="en-US" sz="900"/>
          </a:p>
        </p:txBody>
      </p:sp>
      <p:sp>
        <p:nvSpPr>
          <p:cNvPr id="22" name="Shape 17"/>
          <p:cNvSpPr/>
          <p:nvPr/>
        </p:nvSpPr>
        <p:spPr>
          <a:xfrm>
            <a:off x="4572000" y="3886200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09160" y="3931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💡 모바일 PWA 앱 설치 팁: 스마트폰 브라우저에서 [홈 화면에 추가]를 누르면 별도 설치 없이 모바일 앱 아이콘으로 상시 원터치 실행됩니다.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3M 사내 클럽 비용 정산 시스템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Step 2. 전사원 명부 검색 &amp; 참석자 원클릭 담기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전사 1,317명 임직원 DB가 완벽 연동되어, 오타나 동명이인 착오 없이 정확하게 참석자를 등록합니다.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1207008"/>
            <a:ext cx="457200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03520" y="1280160"/>
            <a:ext cx="3291840" cy="3337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👥 참석자 관리 4대 핵심 포인트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486400" y="1700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전사 임직원 1,317명 완벽 탑재</a:t>
            </a:r>
            <a:endParaRPr lang="en-US" sz="980"/>
          </a:p>
        </p:txBody>
      </p:sp>
      <p:sp>
        <p:nvSpPr>
          <p:cNvPr id="15" name="Text 12"/>
          <p:cNvSpPr/>
          <p:nvPr/>
        </p:nvSpPr>
        <p:spPr>
          <a:xfrm>
            <a:off x="5687568" y="190195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7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사내 전 직원의 이름과 사번(EMP ID)이 사전 등록되어 있어 이름이나 사번 검색으로 즉시 조회됩니다.</a:t>
            </a:r>
            <a:endParaRPr lang="en-US" sz="700"/>
          </a:p>
        </p:txBody>
      </p:sp>
      <p:sp>
        <p:nvSpPr>
          <p:cNvPr id="16" name="Text 13"/>
          <p:cNvSpPr/>
          <p:nvPr/>
        </p:nvSpPr>
        <p:spPr>
          <a:xfrm>
            <a:off x="5486400" y="2267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[추가] 버튼 1클릭으로 반영</a:t>
            </a:r>
            <a:endParaRPr lang="en-US" sz="980"/>
          </a:p>
        </p:txBody>
      </p:sp>
      <p:sp>
        <p:nvSpPr>
          <p:cNvPr id="17" name="Text 14"/>
          <p:cNvSpPr/>
          <p:nvPr/>
        </p:nvSpPr>
        <p:spPr>
          <a:xfrm>
            <a:off x="5687568" y="246888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7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검색된 사원 옆의 [추가] 버튼을 누르면 즉시 '✓ 추가됨'으로 변경되며 현재 정산 참석자 명단에 자동 등록됩니다.</a:t>
            </a:r>
            <a:endParaRPr lang="en-US" sz="700"/>
          </a:p>
        </p:txBody>
      </p:sp>
      <p:sp>
        <p:nvSpPr>
          <p:cNvPr id="18" name="Text 15"/>
          <p:cNvSpPr/>
          <p:nvPr/>
        </p:nvSpPr>
        <p:spPr>
          <a:xfrm>
            <a:off x="5486400" y="2834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올해 누적 참석 횟수 자동 표시</a:t>
            </a:r>
            <a:endParaRPr lang="en-US" sz="980"/>
          </a:p>
        </p:txBody>
      </p:sp>
      <p:sp>
        <p:nvSpPr>
          <p:cNvPr id="19" name="Text 16"/>
          <p:cNvSpPr/>
          <p:nvPr/>
        </p:nvSpPr>
        <p:spPr>
          <a:xfrm>
            <a:off x="5687568" y="303580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7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'홍준영(올해 누적: 17회)'처럼 연간 참여 횟수가 자동 표시되어 공평한 활동 기회 관리가 가능합니다.</a:t>
            </a:r>
            <a:endParaRPr lang="en-US" sz="700"/>
          </a:p>
        </p:txBody>
      </p:sp>
      <p:sp>
        <p:nvSpPr>
          <p:cNvPr id="20" name="Text 17"/>
          <p:cNvSpPr/>
          <p:nvPr/>
        </p:nvSpPr>
        <p:spPr>
          <a:xfrm>
            <a:off x="5486400" y="3401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④ 동명이인 사번 완벽 식별</a:t>
            </a:r>
            <a:endParaRPr lang="en-US" sz="980"/>
          </a:p>
        </p:txBody>
      </p:sp>
      <p:sp>
        <p:nvSpPr>
          <p:cNvPr id="21" name="Text 18"/>
          <p:cNvSpPr/>
          <p:nvPr/>
        </p:nvSpPr>
        <p:spPr>
          <a:xfrm>
            <a:off x="5687568" y="360273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7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이진호(4035) 등 동명이인이 존재해도 고유 사번 기준으로 참석 횟수가 독립 관리되어 오귀속이 원천 차단됩니다.</a:t>
            </a:r>
            <a:endParaRPr lang="en-US" sz="700"/>
          </a:p>
        </p:txBody>
      </p:sp>
      <p:sp>
        <p:nvSpPr>
          <p:cNvPr id="22" name="Shape 19"/>
          <p:cNvSpPr/>
          <p:nvPr/>
        </p:nvSpPr>
        <p:spPr>
          <a:xfrm>
            <a:off x="5486400" y="4078224"/>
            <a:ext cx="2926080" cy="420624"/>
          </a:xfrm>
          <a:prstGeom prst="roundRect">
            <a:avLst>
              <a:gd name="adj" fmla="val 13043"/>
            </a:avLst>
          </a:prstGeom>
          <a:solidFill>
            <a:srgbClr val="ECFDF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411480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065F46"/>
                </a:solidFill>
                <a:latin typeface="Malgun Gothic"/>
                <a:ea typeface="Malgun Gothic"/>
                <a:cs typeface="Malgun Gothic"/>
              </a:rPr>
              <a:t>✓ 명부에서 선택된 인원수는 정산 탭에 실시간 자동 반영되어 1인당 비용을 자동 나눗셈합니다.</a:t>
            </a:r>
            <a:endParaRPr lang="en-US" sz="800"/>
          </a:p>
        </p:txBody>
      </p:sp>
      <p:pic>
        <p:nvPicPr>
          <p:cNvPr id="69" name="Picture 23" descr="이진호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00200" y="2571750"/>
            <a:ext cx="1140130" cy="9791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3M 사내 클럽 비용 정산 시스템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Step 3. 비용 항목 추가 &amp; 3대 카테고리 규정 분류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식대, 장비 대관료, 상품비 등 항목별 특성에 맞춰 최적의 지원 규정이 자동으로 적용됩니다.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310896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40480" y="128016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0" y="1417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📋 비용 입력 방법 및 3대 카테고리 규정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4023360" y="1719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행사비 (식대, 다과비 등)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6583680" y="17190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인원수 비례 4구간 분할</a:t>
            </a:r>
            <a:endParaRPr lang="en-US" sz="750"/>
          </a:p>
        </p:txBody>
      </p:sp>
      <p:sp>
        <p:nvSpPr>
          <p:cNvPr id="17" name="Text 14"/>
          <p:cNvSpPr/>
          <p:nvPr/>
        </p:nvSpPr>
        <p:spPr>
          <a:xfrm>
            <a:off x="4069080" y="193852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8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참석자 1인당 비용으로 자동 환산되어 [가/나/다/라] 4단계 규정 구간에 따라 회사 지원금과 자부담으로 정밀 분할됩니다.</a:t>
            </a:r>
            <a:endParaRPr lang="en-US" sz="880"/>
          </a:p>
        </p:txBody>
      </p:sp>
      <p:sp>
        <p:nvSpPr>
          <p:cNvPr id="18" name="Text 15"/>
          <p:cNvSpPr/>
          <p:nvPr/>
        </p:nvSpPr>
        <p:spPr>
          <a:xfrm>
            <a:off x="4023360" y="2432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시설 및 장비 (대관료, 장비 렌탈)</a:t>
            </a:r>
            <a:endParaRPr lang="en-US" sz="1050"/>
          </a:p>
        </p:txBody>
      </p:sp>
      <p:sp>
        <p:nvSpPr>
          <p:cNvPr id="19" name="Shape 16"/>
          <p:cNvSpPr/>
          <p:nvPr/>
        </p:nvSpPr>
        <p:spPr>
          <a:xfrm>
            <a:off x="6583680" y="2432304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인당 85,000원 Flat 한도</a:t>
            </a:r>
            <a:endParaRPr lang="en-US" sz="750"/>
          </a:p>
        </p:txBody>
      </p:sp>
      <p:sp>
        <p:nvSpPr>
          <p:cNvPr id="21" name="Text 18"/>
          <p:cNvSpPr/>
          <p:nvPr/>
        </p:nvSpPr>
        <p:spPr>
          <a:xfrm>
            <a:off x="4069080" y="265176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8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인원수와 무관한 정액 비용 특성을 반영하여, 인당 85,000원 × 인원수 한도 내에서 전액 법인카드로 우선 지원 제안됩니다.</a:t>
            </a:r>
            <a:endParaRPr lang="en-US" sz="880"/>
          </a:p>
        </p:txBody>
      </p:sp>
      <p:sp>
        <p:nvSpPr>
          <p:cNvPr id="22" name="Text 19"/>
          <p:cNvSpPr/>
          <p:nvPr/>
        </p:nvSpPr>
        <p:spPr>
          <a:xfrm>
            <a:off x="4023360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상품비 (기념품, 시상품)</a:t>
            </a:r>
            <a:endParaRPr lang="en-US" sz="1050"/>
          </a:p>
        </p:txBody>
      </p:sp>
      <p:sp>
        <p:nvSpPr>
          <p:cNvPr id="23" name="Shape 20"/>
          <p:cNvSpPr/>
          <p:nvPr/>
        </p:nvSpPr>
        <p:spPr>
          <a:xfrm>
            <a:off x="6583680" y="3145536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1F2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3145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연간 50만원 한도 실시간 감시</a:t>
            </a:r>
            <a:endParaRPr lang="en-US" sz="750"/>
          </a:p>
        </p:txBody>
      </p:sp>
      <p:sp>
        <p:nvSpPr>
          <p:cNvPr id="25" name="Text 22"/>
          <p:cNvSpPr/>
          <p:nvPr/>
        </p:nvSpPr>
        <p:spPr>
          <a:xfrm>
            <a:off x="4069080" y="336499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8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동아리당 연간 총 상품비 누적 한도(500,000원)를 실시간 감시하며, 잔여 한도 초과 시 자동으로 등록이 차단됩니다.</a:t>
            </a:r>
            <a:endParaRPr lang="en-US" sz="880"/>
          </a:p>
        </p:txBody>
      </p:sp>
      <p:sp>
        <p:nvSpPr>
          <p:cNvPr id="26" name="Shape 23"/>
          <p:cNvSpPr/>
          <p:nvPr/>
        </p:nvSpPr>
        <p:spPr>
          <a:xfrm>
            <a:off x="4023360" y="3986784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40233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830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💳 결제 수단 간편 스위치: 상단 [법인카드 / 개인카드] 토글 스위치로 결제 방식을 선택하면, 회사 지원금과 개인 정산금이 100% 자동 분리됩니다.</a:t>
            </a:r>
            <a:endParaRPr lang="en-US" sz="83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3M 사내 클럽 비용 정산 시스템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Step 4. 실시간 자동 정산 결과 &amp; 규정 100% 검증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계산기나 수기 검토 없이, 4구간 자부담 공식과 잔여 예산 대조가 실시간으로 완벽하게 처리됩니다.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246888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00400" y="128016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716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📊 3M 사내 동아리 4구간 지원 기준표 (규정 공식)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3383280" y="1645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• 가 구간 (≤ 30,000원)</a:t>
            </a:r>
            <a:endParaRPr lang="en-US" sz="880"/>
          </a:p>
        </p:txBody>
      </p:sp>
      <p:sp>
        <p:nvSpPr>
          <p:cNvPr id="15" name="Text 12"/>
          <p:cNvSpPr/>
          <p:nvPr/>
        </p:nvSpPr>
        <p:spPr>
          <a:xfrm>
            <a:off x="5394960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자부담 0% (전액 지원)</a:t>
            </a:r>
            <a:endParaRPr lang="en-US" sz="880"/>
          </a:p>
        </p:txBody>
      </p:sp>
      <p:sp>
        <p:nvSpPr>
          <p:cNvPr id="16" name="Text 13"/>
          <p:cNvSpPr/>
          <p:nvPr/>
        </p:nvSpPr>
        <p:spPr>
          <a:xfrm>
            <a:off x="685800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지원금 = 비용 전액</a:t>
            </a:r>
            <a:endParaRPr lang="en-US" sz="820"/>
          </a:p>
        </p:txBody>
      </p:sp>
      <p:sp>
        <p:nvSpPr>
          <p:cNvPr id="17" name="Text 14"/>
          <p:cNvSpPr/>
          <p:nvPr/>
        </p:nvSpPr>
        <p:spPr>
          <a:xfrm>
            <a:off x="3383280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• 나 구간 (≤ 60,000원)</a:t>
            </a:r>
            <a:endParaRPr lang="en-US" sz="880"/>
          </a:p>
        </p:txBody>
      </p:sp>
      <p:sp>
        <p:nvSpPr>
          <p:cNvPr id="18" name="Text 15"/>
          <p:cNvSpPr/>
          <p:nvPr/>
        </p:nvSpPr>
        <p:spPr>
          <a:xfrm>
            <a:off x="5394960" y="1901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자부담 20%</a:t>
            </a:r>
            <a:endParaRPr lang="en-US" sz="880"/>
          </a:p>
        </p:txBody>
      </p:sp>
      <p:sp>
        <p:nvSpPr>
          <p:cNvPr id="19" name="Text 16"/>
          <p:cNvSpPr/>
          <p:nvPr/>
        </p:nvSpPr>
        <p:spPr>
          <a:xfrm>
            <a:off x="6858000" y="1901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지원금 = 비용 × 80%</a:t>
            </a:r>
            <a:endParaRPr lang="en-US" sz="820"/>
          </a:p>
        </p:txBody>
      </p:sp>
      <p:sp>
        <p:nvSpPr>
          <p:cNvPr id="20" name="Text 17"/>
          <p:cNvSpPr/>
          <p:nvPr/>
        </p:nvSpPr>
        <p:spPr>
          <a:xfrm>
            <a:off x="3383280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• 다 구간 (≤ 120,000원)</a:t>
            </a:r>
            <a:endParaRPr lang="en-US" sz="880"/>
          </a:p>
        </p:txBody>
      </p:sp>
      <p:sp>
        <p:nvSpPr>
          <p:cNvPr id="21" name="Text 18"/>
          <p:cNvSpPr/>
          <p:nvPr/>
        </p:nvSpPr>
        <p:spPr>
          <a:xfrm>
            <a:off x="5394960" y="2157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6만원 초과분 40%</a:t>
            </a:r>
            <a:endParaRPr lang="en-US" sz="880"/>
          </a:p>
        </p:txBody>
      </p:sp>
      <p:sp>
        <p:nvSpPr>
          <p:cNvPr id="22" name="Text 19"/>
          <p:cNvSpPr/>
          <p:nvPr/>
        </p:nvSpPr>
        <p:spPr>
          <a:xfrm>
            <a:off x="6858000" y="2157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자부담 = 6만×20% + 초과분×40%</a:t>
            </a:r>
            <a:endParaRPr lang="en-US" sz="820"/>
          </a:p>
        </p:txBody>
      </p:sp>
      <p:sp>
        <p:nvSpPr>
          <p:cNvPr id="23" name="Text 20"/>
          <p:cNvSpPr/>
          <p:nvPr/>
        </p:nvSpPr>
        <p:spPr>
          <a:xfrm>
            <a:off x="3383280" y="24140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• 라 구간 (&gt; 120,000원)</a:t>
            </a:r>
            <a:endParaRPr lang="en-US" sz="880"/>
          </a:p>
        </p:txBody>
      </p:sp>
      <p:sp>
        <p:nvSpPr>
          <p:cNvPr id="24" name="Text 21"/>
          <p:cNvSpPr/>
          <p:nvPr/>
        </p:nvSpPr>
        <p:spPr>
          <a:xfrm>
            <a:off x="5394960" y="24140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인당 최대 85,000원 캡</a:t>
            </a:r>
            <a:endParaRPr lang="en-US" sz="880"/>
          </a:p>
        </p:txBody>
      </p:sp>
      <p:sp>
        <p:nvSpPr>
          <p:cNvPr id="25" name="Text 22"/>
          <p:cNvSpPr/>
          <p:nvPr/>
        </p:nvSpPr>
        <p:spPr>
          <a:xfrm>
            <a:off x="6858000" y="2414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지원금 = 85,000원 고정 (초과 전액 자부담)</a:t>
            </a:r>
            <a:endParaRPr lang="en-US" sz="820"/>
          </a:p>
        </p:txBody>
      </p:sp>
      <p:sp>
        <p:nvSpPr>
          <p:cNvPr id="26" name="Shape 23"/>
          <p:cNvSpPr/>
          <p:nvPr/>
        </p:nvSpPr>
        <p:spPr>
          <a:xfrm>
            <a:off x="3200400" y="2907792"/>
            <a:ext cx="5394960" cy="170992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0" y="29992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⚡ 실전 화면 결과 보는 법 (100% 자동 산출)</a:t>
            </a:r>
            <a:endParaRPr lang="en-US" sz="1100"/>
          </a:p>
        </p:txBody>
      </p:sp>
      <p:sp>
        <p:nvSpPr>
          <p:cNvPr id="28" name="Text 25"/>
          <p:cNvSpPr/>
          <p:nvPr/>
        </p:nvSpPr>
        <p:spPr>
          <a:xfrm>
            <a:off x="3383280" y="3236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✓ 최종 지원금 (법인카드):</a:t>
            </a:r>
            <a:endParaRPr lang="en-US" sz="880"/>
          </a:p>
        </p:txBody>
      </p:sp>
      <p:sp>
        <p:nvSpPr>
          <p:cNvPr id="29" name="Text 26"/>
          <p:cNvSpPr/>
          <p:nvPr/>
        </p:nvSpPr>
        <p:spPr>
          <a:xfrm>
            <a:off x="5303520" y="3236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규정 한도 내에서 회사가 지급할 법인카드 총액 (실화면: 360,000원)</a:t>
            </a:r>
            <a:endParaRPr lang="en-US" sz="850"/>
          </a:p>
        </p:txBody>
      </p:sp>
      <p:sp>
        <p:nvSpPr>
          <p:cNvPr id="30" name="Text 27"/>
          <p:cNvSpPr/>
          <p:nvPr/>
        </p:nvSpPr>
        <p:spPr>
          <a:xfrm>
            <a:off x="3383280" y="35570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✓ 인당 자부담 비용:</a:t>
            </a:r>
            <a:endParaRPr lang="en-US" sz="880"/>
          </a:p>
        </p:txBody>
      </p:sp>
      <p:sp>
        <p:nvSpPr>
          <p:cNvPr id="31" name="Text 28"/>
          <p:cNvSpPr/>
          <p:nvPr/>
        </p:nvSpPr>
        <p:spPr>
          <a:xfrm>
            <a:off x="5303520" y="3557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참석자 1인당 계좌 입금 또는 현장 결제할 1인 금액 (실화면: 10,000원)</a:t>
            </a:r>
            <a:endParaRPr lang="en-US" sz="850"/>
          </a:p>
        </p:txBody>
      </p:sp>
      <p:sp>
        <p:nvSpPr>
          <p:cNvPr id="32" name="Text 29"/>
          <p:cNvSpPr/>
          <p:nvPr/>
        </p:nvSpPr>
        <p:spPr>
          <a:xfrm>
            <a:off x="3383280" y="38770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✓ 클럽 잔여 예산 실시간 차감:</a:t>
            </a:r>
            <a:endParaRPr lang="en-US" sz="880"/>
          </a:p>
        </p:txBody>
      </p:sp>
      <p:sp>
        <p:nvSpPr>
          <p:cNvPr id="33" name="Text 30"/>
          <p:cNvSpPr/>
          <p:nvPr/>
        </p:nvSpPr>
        <p:spPr>
          <a:xfrm>
            <a:off x="5303520" y="38770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이전 잔여 예산(423,200원) ➔ 이번 지원 후 잔여(63,200원) 즉시 확인</a:t>
            </a:r>
            <a:endParaRPr lang="en-US" sz="850"/>
          </a:p>
        </p:txBody>
      </p:sp>
      <p:sp>
        <p:nvSpPr>
          <p:cNvPr id="34" name="Text 31"/>
          <p:cNvSpPr/>
          <p:nvPr/>
        </p:nvSpPr>
        <p:spPr>
          <a:xfrm>
            <a:off x="3383280" y="4197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✓ [정산 완료] 원클릭 마감:</a:t>
            </a:r>
            <a:endParaRPr lang="en-US" sz="880"/>
          </a:p>
        </p:txBody>
      </p:sp>
      <p:sp>
        <p:nvSpPr>
          <p:cNvPr id="35" name="Text 32"/>
          <p:cNvSpPr/>
          <p:nvPr/>
        </p:nvSpPr>
        <p:spPr>
          <a:xfrm>
            <a:off x="5303520" y="41970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버튼 클릭 시 Firebase 공유 DB에 저장 + 전사원 카운트 동기화 완료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3M 사내 클럽 비용 정산 시스템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Step 5. 정산 이력 관리 &amp; 공식 엑셀 품의서 원클릭 다운로드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완료된 정산 내역이 투명하게 보관되며, 회사 공식 품의 엑셀을 언제든 재다운로드할 수 있습니다.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475488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0" y="1280160"/>
            <a:ext cx="3108960" cy="3337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📑 정산 이력 &amp; 엑셀 다운로드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669280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클럽 예산 실시간 요약 대시보드</a:t>
            </a:r>
            <a:endParaRPr lang="en-US" sz="980"/>
          </a:p>
        </p:txBody>
      </p:sp>
      <p:sp>
        <p:nvSpPr>
          <p:cNvPr id="15" name="Text 12"/>
          <p:cNvSpPr/>
          <p:nvPr/>
        </p:nvSpPr>
        <p:spPr>
          <a:xfrm>
            <a:off x="5687568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총 예산(154만원), 잔여 예산(42.3만원), 총 참석 인원(53명), 상품비 누적액이 상단 배너에 즉시 집계됩니다.</a:t>
            </a:r>
            <a:endParaRPr lang="en-US" sz="840"/>
          </a:p>
        </p:txBody>
      </p:sp>
      <p:sp>
        <p:nvSpPr>
          <p:cNvPr id="16" name="Text 13"/>
          <p:cNvSpPr/>
          <p:nvPr/>
        </p:nvSpPr>
        <p:spPr>
          <a:xfrm>
            <a:off x="566928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행사 날짜별 상세 내역 조회</a:t>
            </a:r>
            <a:endParaRPr lang="en-US" sz="980"/>
          </a:p>
        </p:txBody>
      </p:sp>
      <p:sp>
        <p:nvSpPr>
          <p:cNvPr id="17" name="Text 14"/>
          <p:cNvSpPr/>
          <p:nvPr/>
        </p:nvSpPr>
        <p:spPr>
          <a:xfrm>
            <a:off x="5687568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행사일, 참석 인원, 행사비, 시설비, 상품비, 회사 지원금, 자부담 비용이 한눈에 표 형태로 정리됩니다.</a:t>
            </a:r>
            <a:endParaRPr lang="en-US" sz="840"/>
          </a:p>
        </p:txBody>
      </p:sp>
      <p:sp>
        <p:nvSpPr>
          <p:cNvPr id="18" name="Text 15"/>
          <p:cNvSpPr/>
          <p:nvPr/>
        </p:nvSpPr>
        <p:spPr>
          <a:xfrm>
            <a:off x="5669280" y="2834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공식 엑셀 품의서 즉시 다운로드</a:t>
            </a:r>
            <a:endParaRPr lang="en-US" sz="980"/>
          </a:p>
        </p:txBody>
      </p:sp>
      <p:sp>
        <p:nvSpPr>
          <p:cNvPr id="19" name="Text 16"/>
          <p:cNvSpPr/>
          <p:nvPr/>
        </p:nvSpPr>
        <p:spPr>
          <a:xfrm>
            <a:off x="5687568" y="3035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우측 초록색 [엑셀] 버튼을 누르면 회사 공식 템플릿(template.xlsx)에 모든 셀 좌표가 완벽 매핑된 .xlsx 파일이 생성됩니다.</a:t>
            </a:r>
            <a:endParaRPr lang="en-US" sz="840"/>
          </a:p>
        </p:txBody>
      </p:sp>
      <p:sp>
        <p:nvSpPr>
          <p:cNvPr id="20" name="Text 17"/>
          <p:cNvSpPr/>
          <p:nvPr/>
        </p:nvSpPr>
        <p:spPr>
          <a:xfrm>
            <a:off x="5669280" y="3401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④ 투명한 이력 공유 및 보관</a:t>
            </a:r>
            <a:endParaRPr lang="en-US" sz="980"/>
          </a:p>
        </p:txBody>
      </p:sp>
      <p:sp>
        <p:nvSpPr>
          <p:cNvPr id="21" name="Text 18"/>
          <p:cNvSpPr/>
          <p:nvPr/>
        </p:nvSpPr>
        <p:spPr>
          <a:xfrm>
            <a:off x="5687568" y="3602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일반 회원은 본인 작성 내역을 확인하고, 관리자는 전사 클럽 집행 현황을 검토할 수 있습니다.</a:t>
            </a:r>
            <a:endParaRPr lang="en-US" sz="840"/>
          </a:p>
        </p:txBody>
      </p:sp>
      <p:sp>
        <p:nvSpPr>
          <p:cNvPr id="22" name="Shape 19"/>
          <p:cNvSpPr/>
          <p:nvPr/>
        </p:nvSpPr>
        <p:spPr>
          <a:xfrm>
            <a:off x="5669280" y="4078224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ECFDF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114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065F46"/>
                </a:solidFill>
                <a:latin typeface="Malgun Gothic"/>
                <a:ea typeface="Malgun Gothic"/>
                <a:cs typeface="Malgun Gothic"/>
              </a:rPr>
              <a:t>✓ 엑셀 다운로드 시 K4~K30, L12~L25 등 회사 회계 제출용 좌표가 100% 자동 매핑됩니다.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관리자 전용 기능 (회장단)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[관리자] 전체 관리자 모드: 대시보드 &amp; KPI 모니터링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클럽 회장단 및 관리자(PIN: 000000)를 위한 전사 운영 현황 통합 관리 화면입니다.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466344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94960" y="1280160"/>
            <a:ext cx="3200400" cy="33375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417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👑 관리자 전용 대시보드 핵심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577840" y="17007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전사 총괄 4대 KPI 실시간 타일</a:t>
            </a:r>
            <a:endParaRPr lang="en-US" sz="980"/>
          </a:p>
        </p:txBody>
      </p:sp>
      <p:sp>
        <p:nvSpPr>
          <p:cNvPr id="15" name="Text 12"/>
          <p:cNvSpPr/>
          <p:nvPr/>
        </p:nvSpPr>
        <p:spPr>
          <a:xfrm>
            <a:off x="5596128" y="19019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총 등록 가입자(7명), 전체 누적 지출액(1,159만원), 회사 지원금(948만원), 임직원 자부담(211만원) 실시간 집계</a:t>
            </a:r>
            <a:endParaRPr lang="en-US" sz="840"/>
          </a:p>
        </p:txBody>
      </p:sp>
      <p:sp>
        <p:nvSpPr>
          <p:cNvPr id="16" name="Text 13"/>
          <p:cNvSpPr/>
          <p:nvPr/>
        </p:nvSpPr>
        <p:spPr>
          <a:xfrm>
            <a:off x="5577840" y="2267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초보 관리자 3단계 온보딩 가이드</a:t>
            </a:r>
            <a:endParaRPr lang="en-US" sz="980"/>
          </a:p>
        </p:txBody>
      </p:sp>
      <p:sp>
        <p:nvSpPr>
          <p:cNvPr id="17" name="Text 14"/>
          <p:cNvSpPr/>
          <p:nvPr/>
        </p:nvSpPr>
        <p:spPr>
          <a:xfrm>
            <a:off x="5596128" y="2468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① 클럽·예산 설정 ➔ ② 정산 기준 확인 ➔ ③ 정산 현황 확인으로 이어지는 간편 네비게이션 제공</a:t>
            </a:r>
            <a:endParaRPr lang="en-US" sz="840"/>
          </a:p>
        </p:txBody>
      </p:sp>
      <p:sp>
        <p:nvSpPr>
          <p:cNvPr id="18" name="Text 15"/>
          <p:cNvSpPr/>
          <p:nvPr/>
        </p:nvSpPr>
        <p:spPr>
          <a:xfrm>
            <a:off x="5577840" y="2834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정산 구간 및 비율 전사 설정</a:t>
            </a:r>
            <a:endParaRPr lang="en-US" sz="980"/>
          </a:p>
        </p:txBody>
      </p:sp>
      <p:sp>
        <p:nvSpPr>
          <p:cNvPr id="19" name="Text 16"/>
          <p:cNvSpPr/>
          <p:nvPr/>
        </p:nvSpPr>
        <p:spPr>
          <a:xfrm>
            <a:off x="5596128" y="30358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지원 규정 변경 시 가/나/다/라 구간 한도액(3만/6만/12만)과 자부담 비율(20%/40%)을 관리자가 유연하게 조정</a:t>
            </a:r>
            <a:endParaRPr lang="en-US" sz="840"/>
          </a:p>
        </p:txBody>
      </p:sp>
      <p:sp>
        <p:nvSpPr>
          <p:cNvPr id="20" name="Text 17"/>
          <p:cNvSpPr/>
          <p:nvPr/>
        </p:nvSpPr>
        <p:spPr>
          <a:xfrm>
            <a:off x="5577840" y="34015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④ 연간 결산 PPT &amp; 감사 로그</a:t>
            </a:r>
            <a:endParaRPr lang="en-US" sz="980"/>
          </a:p>
        </p:txBody>
      </p:sp>
      <p:sp>
        <p:nvSpPr>
          <p:cNvPr id="21" name="Text 18"/>
          <p:cNvSpPr/>
          <p:nvPr/>
        </p:nvSpPr>
        <p:spPr>
          <a:xfrm>
            <a:off x="5596128" y="36027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경영진 보고용 파워포인트 자동 생성 및 데이터 위변조 방지를 위한 전사 작업 로그 완벽 기록</a:t>
            </a:r>
            <a:endParaRPr lang="en-US" sz="840"/>
          </a:p>
        </p:txBody>
      </p:sp>
      <p:sp>
        <p:nvSpPr>
          <p:cNvPr id="22" name="Shape 19"/>
          <p:cNvSpPr/>
          <p:nvPr/>
        </p:nvSpPr>
        <p:spPr>
          <a:xfrm>
            <a:off x="5577840" y="4078224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4114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⚠️ 관리자 설정값은 모든 클럽 사용자에게 즉시 적용되며 Firebase 단일 기준으로 안전하게 동기화됩니다.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관리자 전용 기능 (회장단)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[관리자] 전사 클럽별 정산 이력 &amp; 정산인별 필터링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전사 10개 클럽의 행사 집행 내역을 한곳에서 모니터링하고 작성자별로 교차 검토합니다.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475488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0" y="1280160"/>
            <a:ext cx="3108960" cy="3337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🔍 클럽별 이력 관리 핵심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669280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10개 클럽 집행 내역 통합 조회</a:t>
            </a:r>
            <a:endParaRPr lang="en-US" sz="980"/>
          </a:p>
        </p:txBody>
      </p:sp>
      <p:sp>
        <p:nvSpPr>
          <p:cNvPr id="15" name="Text 12"/>
          <p:cNvSpPr/>
          <p:nvPr/>
        </p:nvSpPr>
        <p:spPr>
          <a:xfrm>
            <a:off x="5870448" y="19019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전체 클럽을 자유롭게 선택하여 예산 소진 현황과 행사 집행 내역을 즉시 조회합니다.</a:t>
            </a:r>
            <a:endParaRPr lang="en-US" sz="840"/>
          </a:p>
        </p:txBody>
      </p:sp>
      <p:sp>
        <p:nvSpPr>
          <p:cNvPr id="16" name="Text 13"/>
          <p:cNvSpPr/>
          <p:nvPr/>
        </p:nvSpPr>
        <p:spPr>
          <a:xfrm>
            <a:off x="566928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정산인(작성자) 스마트 필터링</a:t>
            </a:r>
            <a:endParaRPr lang="en-US" sz="980"/>
          </a:p>
        </p:txBody>
      </p:sp>
      <p:sp>
        <p:nvSpPr>
          <p:cNvPr id="17" name="Text 14"/>
          <p:cNvSpPr/>
          <p:nvPr/>
        </p:nvSpPr>
        <p:spPr>
          <a:xfrm>
            <a:off x="5870448" y="2468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정산인이 2명 이상인 클럽은 자동 드롭다운이 노출되어 담당자별로 교차 검토합니다.</a:t>
            </a:r>
            <a:endParaRPr lang="en-US" sz="840"/>
          </a:p>
        </p:txBody>
      </p:sp>
      <p:sp>
        <p:nvSpPr>
          <p:cNvPr id="18" name="Text 15"/>
          <p:cNvSpPr/>
          <p:nvPr/>
        </p:nvSpPr>
        <p:spPr>
          <a:xfrm>
            <a:off x="5669280" y="2834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행사 일자 수정 및 명단 재확인</a:t>
            </a:r>
            <a:endParaRPr lang="en-US" sz="980"/>
          </a:p>
        </p:txBody>
      </p:sp>
      <p:sp>
        <p:nvSpPr>
          <p:cNvPr id="19" name="Text 16"/>
          <p:cNvSpPr/>
          <p:nvPr/>
        </p:nvSpPr>
        <p:spPr>
          <a:xfrm>
            <a:off x="5870448" y="30358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날짜 클릭으로 일정을 수정하고, 인원 배지(4명) 클릭 시 당시 참석 명단을 확인합니다.</a:t>
            </a:r>
            <a:endParaRPr lang="en-US" sz="840"/>
          </a:p>
        </p:txBody>
      </p:sp>
      <p:sp>
        <p:nvSpPr>
          <p:cNvPr id="20" name="Text 17"/>
          <p:cNvSpPr/>
          <p:nvPr/>
        </p:nvSpPr>
        <p:spPr>
          <a:xfrm>
            <a:off x="5669280" y="3401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④ 무결성 보장 삭제 (관리자 전용)</a:t>
            </a:r>
            <a:endParaRPr lang="en-US" sz="980"/>
          </a:p>
        </p:txBody>
      </p:sp>
      <p:sp>
        <p:nvSpPr>
          <p:cNvPr id="21" name="Text 18"/>
          <p:cNvSpPr/>
          <p:nvPr/>
        </p:nvSpPr>
        <p:spPr>
          <a:xfrm>
            <a:off x="5870448" y="36027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오등록 삭제 시 globalHistory + 개인 이력 + 누적 카운트가 완벽히 동시 롤백됩니다.</a:t>
            </a:r>
            <a:endParaRPr lang="en-US" sz="840"/>
          </a:p>
        </p:txBody>
      </p:sp>
      <p:sp>
        <p:nvSpPr>
          <p:cNvPr id="22" name="Shape 19"/>
          <p:cNvSpPr/>
          <p:nvPr/>
        </p:nvSpPr>
        <p:spPr>
          <a:xfrm>
            <a:off x="5669280" y="4078224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114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✓ 모든 이력 데이터는 Firebase 공유 DB에 실시간 동기화되어 데이터 분실 위험이 전혀 없습니다.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관리자 전용 기능 (회장단)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[관리자] 7대 실시간 시각화 분석 차트 대시보드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월별 지출액, 예산 소진율, 활동 회원 수 등 7대 핵심 지표를 인터랙티브 차트로 한눈에 파악합니다.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475488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0" y="1280160"/>
            <a:ext cx="3108960" cy="3337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📊 7대 실시간 분석 차트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5669280" y="1700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월별 지출 현황 (1~12월)</a:t>
            </a:r>
            <a:endParaRPr lang="en-US" sz="920"/>
          </a:p>
        </p:txBody>
      </p:sp>
      <p:sp>
        <p:nvSpPr>
          <p:cNvPr id="15" name="Text 12"/>
          <p:cNvSpPr/>
          <p:nvPr/>
        </p:nvSpPr>
        <p:spPr>
          <a:xfrm>
            <a:off x="580644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클럽별 월간 지출액 추이를 멀티 컬러 바 차트로 비교 분석</a:t>
            </a:r>
            <a:endParaRPr lang="en-US" sz="800"/>
          </a:p>
        </p:txBody>
      </p:sp>
      <p:sp>
        <p:nvSpPr>
          <p:cNvPr id="16" name="Text 13"/>
          <p:cNvSpPr/>
          <p:nvPr/>
        </p:nvSpPr>
        <p:spPr>
          <a:xfrm>
            <a:off x="5669280" y="2148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클럽별 예산 소진율 (위험도 경고)</a:t>
            </a:r>
            <a:endParaRPr lang="en-US" sz="920"/>
          </a:p>
        </p:txBody>
      </p:sp>
      <p:sp>
        <p:nvSpPr>
          <p:cNvPr id="17" name="Text 14"/>
          <p:cNvSpPr/>
          <p:nvPr/>
        </p:nvSpPr>
        <p:spPr>
          <a:xfrm>
            <a:off x="5806440" y="2313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클럽 고유 색상 매핑 및 소진 위험도에 따른 스마트 경고 표시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5669280" y="2596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3대 카테고리별 비용 비중</a:t>
            </a:r>
            <a:endParaRPr lang="en-US" sz="920"/>
          </a:p>
        </p:txBody>
      </p:sp>
      <p:sp>
        <p:nvSpPr>
          <p:cNvPr id="19" name="Text 16"/>
          <p:cNvSpPr/>
          <p:nvPr/>
        </p:nvSpPr>
        <p:spPr>
          <a:xfrm>
            <a:off x="5806440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행사비, 시설·장비, 상품비 구성비를 도넛 차트로 실시간 분석</a:t>
            </a:r>
            <a:endParaRPr lang="en-US" sz="800"/>
          </a:p>
        </p:txBody>
      </p:sp>
      <p:sp>
        <p:nvSpPr>
          <p:cNvPr id="20" name="Text 17"/>
          <p:cNvSpPr/>
          <p:nvPr/>
        </p:nvSpPr>
        <p:spPr>
          <a:xfrm>
            <a:off x="5669280" y="3044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④ 클럽별 고유 참석자 분석 (중복 제거)</a:t>
            </a:r>
            <a:endParaRPr lang="en-US" sz="920"/>
          </a:p>
        </p:txBody>
      </p:sp>
      <p:sp>
        <p:nvSpPr>
          <p:cNvPr id="21" name="Text 18"/>
          <p:cNvSpPr/>
          <p:nvPr/>
        </p:nvSpPr>
        <p:spPr>
          <a:xfrm>
            <a:off x="5806440" y="32095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사번 기준 중복을 완벽 제거하여 실제 순수 활동 인원수 집계</a:t>
            </a:r>
            <a:endParaRPr lang="en-US" sz="800"/>
          </a:p>
        </p:txBody>
      </p:sp>
      <p:sp>
        <p:nvSpPr>
          <p:cNvPr id="22" name="Text 19"/>
          <p:cNvSpPr/>
          <p:nvPr/>
        </p:nvSpPr>
        <p:spPr>
          <a:xfrm>
            <a:off x="5669280" y="3493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⑤ 클럽별 정산 횟수 &amp; 자부담 추이</a:t>
            </a:r>
            <a:endParaRPr lang="en-US" sz="920"/>
          </a:p>
        </p:txBody>
      </p:sp>
      <p:sp>
        <p:nvSpPr>
          <p:cNvPr id="23" name="Text 20"/>
          <p:cNvSpPr/>
          <p:nvPr/>
        </p:nvSpPr>
        <p:spPr>
          <a:xfrm>
            <a:off x="5806440" y="3657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동아리별 정기 모임 활성화 수준과 임직원 자부담 변동성 모니터링</a:t>
            </a:r>
            <a:endParaRPr lang="en-US" sz="800"/>
          </a:p>
        </p:txBody>
      </p:sp>
      <p:sp>
        <p:nvSpPr>
          <p:cNvPr id="24" name="Shape 21"/>
          <p:cNvSpPr/>
          <p:nvPr/>
        </p:nvSpPr>
        <p:spPr>
          <a:xfrm>
            <a:off x="5669280" y="4078224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4114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780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✓ 클럽 필터 칩으로 특정 클럽만 선택하여 비교하거나 [전체 선택]으로 전사 총괄 비교가 가능합니다.</a:t>
            </a:r>
            <a:endParaRPr lang="en-US" sz="78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관리자 전용 기능 (회장단)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[관리자] 1클릭 연간 클럽 결산 PPT 보고서 자동 생성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9509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수작업으로 며칠씩 걸리던 경영진 연말 결산 보고서가 클릭 한 번에 16:9 와이드 PPTX로 자동 빌드됩니다.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3M 사내 동아리·클럽 비용 정산기 (v1.6.310) | 실무 사용자 설명회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6035040" y="4828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COPYRIGHT © 2026 3M ALL RIGHTS RESERVED</a:t>
            </a:r>
            <a:endParaRPr lang="en-US" sz="75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8640" y="1280160"/>
            <a:ext cx="2560320" cy="3337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91840" y="1280160"/>
            <a:ext cx="53035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🚀 연간 결산 PPT 자동화 3대 핵심 강점</a:t>
            </a:r>
            <a:endParaRPr lang="en-US" sz="1250"/>
          </a:p>
        </p:txBody>
      </p:sp>
      <p:sp>
        <p:nvSpPr>
          <p:cNvPr id="14" name="Text 11"/>
          <p:cNvSpPr/>
          <p:nvPr/>
        </p:nvSpPr>
        <p:spPr>
          <a:xfrm>
            <a:off x="3474720" y="17190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① 경영진 보고용 16:9 와이드 디자인 자동 적용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3520440" y="19385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8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표지, 전사 총괄 KPI 요약, 재원·용도 2대 도넛 차트, 클럽별 소진율 바 차트, 10개 클럽 종합 비교표, 상세 활동 내역까지 풀 패키지 슬라이드 자동 생성</a:t>
            </a:r>
            <a:endParaRPr lang="en-US" sz="880"/>
          </a:p>
        </p:txBody>
      </p:sp>
      <p:sp>
        <p:nvSpPr>
          <p:cNvPr id="16" name="Text 13"/>
          <p:cNvSpPr/>
          <p:nvPr/>
        </p:nvSpPr>
        <p:spPr>
          <a:xfrm>
            <a:off x="3474720" y="2432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② 데이터 100% 실시간 동기화 및 오차 제로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3520440" y="2651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8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총 집행액, 연간 예산, 회사 지원금 비율, 임직원 자부담, 상품비 등 당일 최신 확정 데이터가 오차 없이 즉시 차트화</a:t>
            </a:r>
            <a:endParaRPr lang="en-US" sz="880"/>
          </a:p>
        </p:txBody>
      </p:sp>
      <p:sp>
        <p:nvSpPr>
          <p:cNvPr id="18" name="Text 15"/>
          <p:cNvSpPr/>
          <p:nvPr/>
        </p:nvSpPr>
        <p:spPr>
          <a:xfrm>
            <a:off x="3474720" y="31455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③ 즉시 편집 가능한 네이티브 PPTX 파일 다운로드</a:t>
            </a:r>
            <a:endParaRPr lang="en-US" sz="1050"/>
          </a:p>
        </p:txBody>
      </p:sp>
      <p:sp>
        <p:nvSpPr>
          <p:cNvPr id="19" name="Text 16"/>
          <p:cNvSpPr/>
          <p:nvPr/>
        </p:nvSpPr>
        <p:spPr>
          <a:xfrm>
            <a:off x="3520440" y="33649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8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단순 캡처 이미지가 아니라 파워포인트 도형, 표, 차트 객체로 생성되므로 다운로드 후 발표자가 폰트, 색상, 코멘트를 자유롭게 추가 편집 가능</a:t>
            </a:r>
            <a:endParaRPr lang="en-US" sz="880"/>
          </a:p>
        </p:txBody>
      </p:sp>
      <p:sp>
        <p:nvSpPr>
          <p:cNvPr id="20" name="Shape 17"/>
          <p:cNvSpPr/>
          <p:nvPr/>
        </p:nvSpPr>
        <p:spPr>
          <a:xfrm>
            <a:off x="3474720" y="3986784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4023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📥 [PPTX 다운로드] 클릭 ➔ 3초 만에 파일 다운로드 완료! 연말 감사 및 예산 심의 보고 완벽 대응!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자주 묻는 질문 (FAQ) &amp; 클럽 운영 지원 안내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정산 시스템 사용 중 궁금한 점과 특수 상황 처리 방법입니다.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2529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Q1. 인당 지원 한도(85,000원)를 초과하는 특별 행사는 어떻게 하나요?</a:t>
            </a:r>
            <a:endParaRPr lang="en-US" sz="980"/>
          </a:p>
        </p:txBody>
      </p:sp>
      <p:sp>
        <p:nvSpPr>
          <p:cNvPr id="8" name="Text 6"/>
          <p:cNvSpPr/>
          <p:nvPr/>
        </p:nvSpPr>
        <p:spPr>
          <a:xfrm>
            <a:off x="713232" y="1499616"/>
            <a:ext cx="3602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A: 임원진 사전 승인을 득한 특별 행사는 관리자(회장단)가 클럽 관리 메뉴에서 해당 클럽의 [1회성 초과 지원 승인] 토글을 활성화하여 잔여 예산 내에서 최대치로 정산할 수 있습니다 (정산 확정 시 1회 사용 후 자동 리셋).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22529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Q2. 실제 영수증 상황에 맞춰 자부담 금액을 수동 수정할 수 있나요?</a:t>
            </a:r>
            <a:endParaRPr lang="en-US" sz="980"/>
          </a:p>
        </p:txBody>
      </p:sp>
      <p:sp>
        <p:nvSpPr>
          <p:cNvPr id="11" name="Text 9"/>
          <p:cNvSpPr/>
          <p:nvPr/>
        </p:nvSpPr>
        <p:spPr>
          <a:xfrm>
            <a:off x="4828032" y="1499616"/>
            <a:ext cx="3602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A: 네! 결과 카드의 [총 자부담 금액 (수정 가능)] 입력창에서 원하는 금액을 직접 입력하시면 수동 입력값이 최우선 반영되어 최종 지원금이 자동 재조정됩니다.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4261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Q3. 모바일 스마트폰에서도 컴퓨터와 똑같이 사용할 수 있나요?</a:t>
            </a:r>
            <a:endParaRPr lang="en-US" sz="980"/>
          </a:p>
        </p:txBody>
      </p:sp>
      <p:sp>
        <p:nvSpPr>
          <p:cNvPr id="14" name="Text 12"/>
          <p:cNvSpPr/>
          <p:nvPr/>
        </p:nvSpPr>
        <p:spPr>
          <a:xfrm>
            <a:off x="713232" y="2916936"/>
            <a:ext cx="3602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A: 100% 동일합니다. 반응형 모바일 PWA로 개발되어 스마트폰 화면에서도 터치 키패드, 명부 검색, 영수증 사진 업로드, 엑셀 다운로드가 원활하게 동작합니다.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64261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Q4. 새해가 되면 전사원 명부의 참석 횟수는 삭제되나요?</a:t>
            </a:r>
            <a:endParaRPr lang="en-US" sz="980"/>
          </a:p>
        </p:txBody>
      </p:sp>
      <p:sp>
        <p:nvSpPr>
          <p:cNvPr id="17" name="Text 15"/>
          <p:cNvSpPr/>
          <p:nvPr/>
        </p:nvSpPr>
        <p:spPr>
          <a:xfrm>
            <a:off x="4828032" y="2916936"/>
            <a:ext cx="3602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85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A: 삭제되지 않습니다! 매년 1월 1일 첫 로그인 시 직전 연도 카운트는 연도별 히스토리로 안전하게 영구 아카이빙된 후 새해 카운트만 0회로 자동 리셋됩니다.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👏 경청해 주셔서 감사합니다! 즐겁고 투명한 사내 동아리 활동을 응원합니다.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777240" y="44622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시스템 문의 및 신규 동아리 등록 신청: 김종필 (사내 메신저 / 시스템 개발 담당)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6583680" y="4187952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87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⚡ 지금 바로 시작하기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12</Slides>
  <Notes>0</Notes>
  <HiddenSlides>0</HiddenSlide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2026-10-19T22:52:17Z</dcterms:created>
  <dcterms:modified xsi:type="dcterms:W3CDTF">2026-10-19T22:52:17Z</dcterms:modified>
</cp:coreProperties>
</file>